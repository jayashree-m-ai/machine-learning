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325" r:id="rId5"/>
    <p:sldId id="326" r:id="rId6"/>
    <p:sldId id="259" r:id="rId7"/>
    <p:sldId id="257" r:id="rId8"/>
    <p:sldId id="341" r:id="rId9"/>
    <p:sldId id="342" r:id="rId10"/>
    <p:sldId id="258" r:id="rId11"/>
    <p:sldId id="343" r:id="rId12"/>
    <p:sldId id="264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52" r:id="rId22"/>
    <p:sldId id="34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240" autoAdjust="0"/>
  </p:normalViewPr>
  <p:slideViewPr>
    <p:cSldViewPr snapToGrid="0">
      <p:cViewPr varScale="1">
        <p:scale>
          <a:sx n="104" d="100"/>
          <a:sy n="104" d="100"/>
        </p:scale>
        <p:origin x="216" y="72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5718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eb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US" dirty="0"/>
              <a:t>Machine learning - clustering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Jayashree M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498317"/>
          </a:xfrm>
        </p:spPr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671" y="2888093"/>
            <a:ext cx="4114800" cy="3518843"/>
          </a:xfrm>
        </p:spPr>
        <p:txBody>
          <a:bodyPr vert="horz" lIns="0" tIns="0" rIns="0" bIns="0" rtlCol="0" anchor="t">
            <a:noAutofit/>
          </a:bodyPr>
          <a:lstStyle/>
          <a:p>
            <a:pPr fontAlgn="base"/>
            <a:r>
              <a:rPr lang="en-US" sz="1400" b="1" cap="none" dirty="0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r>
              <a:rPr lang="en-US" sz="1400" cap="none" dirty="0">
                <a:latin typeface="Arial" panose="020B0604020202020204" pitchFamily="34" charset="0"/>
                <a:cs typeface="Arial" panose="020B0604020202020204" pitchFamily="34" charset="0"/>
              </a:rPr>
              <a:t>: Discover the natural grouping or structure in unlabeled data without predefined categories.</a:t>
            </a:r>
          </a:p>
          <a:p>
            <a:pPr fontAlgn="base"/>
            <a:r>
              <a:rPr lang="en-US" sz="1400" b="1" cap="none" dirty="0"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en-US" sz="1400" cap="none" dirty="0">
                <a:latin typeface="Arial" panose="020B0604020202020204" pitchFamily="34" charset="0"/>
                <a:cs typeface="Arial" panose="020B0604020202020204" pitchFamily="34" charset="0"/>
              </a:rPr>
              <a:t>: Data points are assigned to clusters based on similarity or distance measures.</a:t>
            </a:r>
          </a:p>
          <a:p>
            <a:pPr fontAlgn="base"/>
            <a:r>
              <a:rPr lang="en-US" sz="1400" b="1" cap="none" dirty="0">
                <a:latin typeface="Arial" panose="020B0604020202020204" pitchFamily="34" charset="0"/>
                <a:cs typeface="Arial" panose="020B0604020202020204" pitchFamily="34" charset="0"/>
              </a:rPr>
              <a:t>Similarity measures</a:t>
            </a:r>
            <a:r>
              <a:rPr lang="en-US" sz="1400" cap="none" dirty="0">
                <a:latin typeface="Arial" panose="020B0604020202020204" pitchFamily="34" charset="0"/>
                <a:cs typeface="Arial" panose="020B0604020202020204" pitchFamily="34" charset="0"/>
              </a:rPr>
              <a:t>: Can include </a:t>
            </a:r>
            <a:r>
              <a:rPr lang="en-US" sz="1400" cap="none" dirty="0" err="1">
                <a:latin typeface="Arial" panose="020B0604020202020204" pitchFamily="34" charset="0"/>
                <a:cs typeface="Arial" panose="020B0604020202020204" pitchFamily="34" charset="0"/>
              </a:rPr>
              <a:t>euclidean</a:t>
            </a:r>
            <a:r>
              <a:rPr lang="en-US" sz="1400" cap="none" dirty="0">
                <a:latin typeface="Arial" panose="020B0604020202020204" pitchFamily="34" charset="0"/>
                <a:cs typeface="Arial" panose="020B0604020202020204" pitchFamily="34" charset="0"/>
              </a:rPr>
              <a:t> distance, cosine similarity or other metrics depending on data type and clustering method.</a:t>
            </a:r>
          </a:p>
          <a:p>
            <a:pPr fontAlgn="base"/>
            <a:r>
              <a:rPr lang="en-US" sz="1400" b="1" cap="none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sz="1400" cap="none" dirty="0">
                <a:latin typeface="Arial" panose="020B0604020202020204" pitchFamily="34" charset="0"/>
                <a:cs typeface="Arial" panose="020B0604020202020204" pitchFamily="34" charset="0"/>
              </a:rPr>
              <a:t>: Each group is assigned a cluster id, representing shared characteristics within the cluster.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A9039B7-D229-37F7-BB93-9313260B1AC1}"/>
              </a:ext>
            </a:extLst>
          </p:cNvPr>
          <p:cNvSpPr txBox="1">
            <a:spLocks/>
          </p:cNvSpPr>
          <p:nvPr/>
        </p:nvSpPr>
        <p:spPr>
          <a:xfrm>
            <a:off x="713293" y="1729627"/>
            <a:ext cx="8046720" cy="914400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b="0" i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0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6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4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Clustering is a technique that groups similar data points together into clusters based on their characteristics.</a:t>
            </a:r>
          </a:p>
        </p:txBody>
      </p:sp>
      <p:pic>
        <p:nvPicPr>
          <p:cNvPr id="6" name="Picture 5" descr="A diagram of fruit processing&#10;&#10;AI-generated content may be incorrect.">
            <a:extLst>
              <a:ext uri="{FF2B5EF4-FFF2-40B4-BE49-F238E27FC236}">
                <a16:creationId xmlns:a16="http://schemas.microsoft.com/office/drawing/2014/main" id="{EE8CEBEB-4FAA-635B-F9E3-52B5820A8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673" y="2511484"/>
            <a:ext cx="5431167" cy="340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3908722" cy="1015352"/>
          </a:xfrm>
          <a:noFill/>
        </p:spPr>
        <p:txBody>
          <a:bodyPr anchor="ctr" anchorCtr="0">
            <a:noAutofit/>
          </a:bodyPr>
          <a:lstStyle/>
          <a:p>
            <a:r>
              <a:rPr lang="en-US" dirty="0"/>
              <a:t>Examples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730" y="3982180"/>
            <a:ext cx="10515600" cy="1424439"/>
          </a:xfrm>
          <a:noFill/>
        </p:spPr>
        <p:txBody>
          <a:bodyPr>
            <a:normAutofit/>
          </a:bodyPr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Targeted marketing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Personalized recommendations 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 segmentation</a:t>
            </a:r>
          </a:p>
        </p:txBody>
      </p:sp>
      <p:pic>
        <p:nvPicPr>
          <p:cNvPr id="10" name="Picture Placeholder 9" descr="Close up of bubbles">
            <a:extLst>
              <a:ext uri="{FF2B5EF4-FFF2-40B4-BE49-F238E27FC236}">
                <a16:creationId xmlns:a16="http://schemas.microsoft.com/office/drawing/2014/main" id="{99058E17-80B3-F3F9-AF6A-0518C39D94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  <p:pic>
        <p:nvPicPr>
          <p:cNvPr id="4" name="Picture Placeholder 6" descr="A diagram of clustering dots&#10;&#10;AI-generated content may be incorrect.">
            <a:extLst>
              <a:ext uri="{FF2B5EF4-FFF2-40B4-BE49-F238E27FC236}">
                <a16:creationId xmlns:a16="http://schemas.microsoft.com/office/drawing/2014/main" id="{BA994E94-322B-5112-357D-D23364A48D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12" b="6912"/>
          <a:stretch>
            <a:fillRect/>
          </a:stretch>
        </p:blipFill>
        <p:spPr>
          <a:xfrm>
            <a:off x="5580827" y="2499871"/>
            <a:ext cx="5897880" cy="39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2999"/>
            <a:ext cx="10241280" cy="1526557"/>
          </a:xfrm>
          <a:noFill/>
        </p:spPr>
        <p:txBody>
          <a:bodyPr anchor="b" anchorCtr="0"/>
          <a:lstStyle/>
          <a:p>
            <a:r>
              <a:rPr lang="en-IN" b="1" dirty="0"/>
              <a:t>Types of Clustering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  <a:noFill/>
        </p:spPr>
        <p:txBody>
          <a:bodyPr>
            <a:normAutofit/>
          </a:bodyPr>
          <a:lstStyle/>
          <a:p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FD9F39-88C6-323D-153D-A1AE45CB5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11482"/>
              </p:ext>
            </p:extLst>
          </p:nvPr>
        </p:nvGraphicFramePr>
        <p:xfrm>
          <a:off x="1295400" y="2399533"/>
          <a:ext cx="9821864" cy="2829118"/>
        </p:xfrm>
        <a:graphic>
          <a:graphicData uri="http://schemas.openxmlformats.org/drawingml/2006/table">
            <a:tbl>
              <a:tblPr/>
              <a:tblGrid>
                <a:gridCol w="2455466">
                  <a:extLst>
                    <a:ext uri="{9D8B030D-6E8A-4147-A177-3AD203B41FA5}">
                      <a16:colId xmlns:a16="http://schemas.microsoft.com/office/drawing/2014/main" val="750716564"/>
                    </a:ext>
                  </a:extLst>
                </a:gridCol>
                <a:gridCol w="3683199">
                  <a:extLst>
                    <a:ext uri="{9D8B030D-6E8A-4147-A177-3AD203B41FA5}">
                      <a16:colId xmlns:a16="http://schemas.microsoft.com/office/drawing/2014/main" val="3971265132"/>
                    </a:ext>
                  </a:extLst>
                </a:gridCol>
                <a:gridCol w="3683199">
                  <a:extLst>
                    <a:ext uri="{9D8B030D-6E8A-4147-A177-3AD203B41FA5}">
                      <a16:colId xmlns:a16="http://schemas.microsoft.com/office/drawing/2014/main" val="943687395"/>
                    </a:ext>
                  </a:extLst>
                </a:gridCol>
              </a:tblGrid>
              <a:tr h="530954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4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Point</a:t>
                      </a:r>
                    </a:p>
                  </a:txBody>
                  <a:tcPr marL="38100" marR="38100" marT="63500" marB="635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Hard Clustering</a:t>
                      </a:r>
                    </a:p>
                  </a:txBody>
                  <a:tcPr marL="63500" marR="63500" marT="63500" marB="635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4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 Clustering</a:t>
                      </a:r>
                    </a:p>
                  </a:txBody>
                  <a:tcPr marL="63500" marR="63500" marT="63500" marB="635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008930"/>
                  </a:ext>
                </a:extLst>
              </a:tr>
              <a:tr h="574541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38100" marR="38100" marT="32741" marB="32741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 1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 1: 0.91, Cluster 2: 0.09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688647"/>
                  </a:ext>
                </a:extLst>
              </a:tr>
              <a:tr h="574541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38100" marR="38100" marT="32741" marB="32741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 2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 1: 0.30, Cluster 2: 0.70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315492"/>
                  </a:ext>
                </a:extLst>
              </a:tr>
              <a:tr h="574541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38100" marR="38100" marT="32741" marB="32741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 3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 1: 0.17, Cluster 2: 0.83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316942"/>
                  </a:ext>
                </a:extLst>
              </a:tr>
              <a:tr h="574541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38100" marR="38100" marT="32741" marB="32741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 4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 1: 1.00, Cluster 2: 0.00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795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09324-9FA6-780D-C858-E29DD379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552" y="293345"/>
            <a:ext cx="7218012" cy="1345211"/>
          </a:xfrm>
        </p:spPr>
        <p:txBody>
          <a:bodyPr/>
          <a:lstStyle/>
          <a:p>
            <a:r>
              <a:rPr lang="en-IN" b="1" dirty="0"/>
              <a:t>Types of Clustering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4D7CC-9111-0032-01B7-E064E7A43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183" y="1460769"/>
            <a:ext cx="3979174" cy="453948"/>
          </a:xfrm>
        </p:spPr>
        <p:txBody>
          <a:bodyPr>
            <a:normAutofit fontScale="70000" lnSpcReduction="20000"/>
          </a:bodyPr>
          <a:lstStyle/>
          <a:p>
            <a:pPr fontAlgn="base"/>
            <a:r>
              <a:rPr lang="en-US" b="1" cap="none" dirty="0">
                <a:latin typeface="Arial Black" panose="020B0A04020102020204" pitchFamily="34" charset="0"/>
              </a:rPr>
              <a:t>Centroid-based clustering (partitioning methods)</a:t>
            </a:r>
          </a:p>
          <a:p>
            <a:endParaRPr lang="en-IN" dirty="0"/>
          </a:p>
        </p:txBody>
      </p:sp>
      <p:pic>
        <p:nvPicPr>
          <p:cNvPr id="10" name="Picture Placeholder 9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E5AFD558-2BEB-A7BE-D97B-397BF4E53EF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4349" b="4349"/>
          <a:stretch>
            <a:fillRect/>
          </a:stretch>
        </p:blipFill>
        <p:spPr>
          <a:xfrm>
            <a:off x="735427" y="2276979"/>
            <a:ext cx="3112301" cy="209944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619ADF5-BEF7-AF61-0668-656762CE1EF8}"/>
              </a:ext>
            </a:extLst>
          </p:cNvPr>
          <p:cNvSpPr txBox="1">
            <a:spLocks/>
          </p:cNvSpPr>
          <p:nvPr/>
        </p:nvSpPr>
        <p:spPr>
          <a:xfrm>
            <a:off x="4106413" y="1322689"/>
            <a:ext cx="3979174" cy="453948"/>
          </a:xfrm>
          <a:prstGeom prst="rect">
            <a:avLst/>
          </a:prstGeom>
        </p:spPr>
        <p:txBody>
          <a:bodyPr vert="horz" lIns="0" tIns="0" rIns="0" bIns="0" rtlCol="0">
            <a:normAutofit fontScale="70000" lnSpcReduction="2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b="0" i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0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6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4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IN" b="1" cap="none" dirty="0">
                <a:latin typeface="Arial Black" panose="020B0A04020102020204" pitchFamily="34" charset="0"/>
              </a:rPr>
              <a:t>Density-based clustering (model-based methods)</a:t>
            </a:r>
          </a:p>
          <a:p>
            <a:endParaRPr lang="en-IN" dirty="0"/>
          </a:p>
        </p:txBody>
      </p:sp>
      <p:pic>
        <p:nvPicPr>
          <p:cNvPr id="12" name="Picture 11" descr="A group of colorful circles&#10;&#10;AI-generated content may be incorrect.">
            <a:extLst>
              <a:ext uri="{FF2B5EF4-FFF2-40B4-BE49-F238E27FC236}">
                <a16:creationId xmlns:a16="http://schemas.microsoft.com/office/drawing/2014/main" id="{8B3C30A6-B3E9-049B-8301-D2300452DD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19" t="8465" r="1485" b="14855"/>
          <a:stretch>
            <a:fillRect/>
          </a:stretch>
        </p:blipFill>
        <p:spPr>
          <a:xfrm>
            <a:off x="4293778" y="2162217"/>
            <a:ext cx="2958387" cy="242899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5C1201C-029B-081A-3FD0-124400AC26DA}"/>
              </a:ext>
            </a:extLst>
          </p:cNvPr>
          <p:cNvSpPr txBox="1">
            <a:spLocks/>
          </p:cNvSpPr>
          <p:nvPr/>
        </p:nvSpPr>
        <p:spPr>
          <a:xfrm>
            <a:off x="7542061" y="1316736"/>
            <a:ext cx="3979174" cy="453948"/>
          </a:xfrm>
          <a:prstGeom prst="rect">
            <a:avLst/>
          </a:prstGeom>
        </p:spPr>
        <p:txBody>
          <a:bodyPr vert="horz" lIns="0" tIns="0" rIns="0" bIns="0" rtlCol="0">
            <a:normAutofit fontScale="62500" lnSpcReduction="2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b="0" i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0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6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4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IN" b="1" cap="none" dirty="0">
                <a:latin typeface="Arial Black" panose="020B0A04020102020204" pitchFamily="34" charset="0"/>
              </a:rPr>
              <a:t>Connectivity-based clustering (hierarchical clustering)</a:t>
            </a: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1DBC9A-E527-ABB4-7E9B-C1A156BBEE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283" b="22432"/>
          <a:stretch>
            <a:fillRect/>
          </a:stretch>
        </p:blipFill>
        <p:spPr>
          <a:xfrm>
            <a:off x="8314002" y="2250588"/>
            <a:ext cx="2763338" cy="22522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5344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451B6-C13B-E521-2DFF-CDB046806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1D1FD-09C2-C4FE-0F62-16108F9F2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552" y="293345"/>
            <a:ext cx="7218012" cy="1345211"/>
          </a:xfrm>
        </p:spPr>
        <p:txBody>
          <a:bodyPr/>
          <a:lstStyle/>
          <a:p>
            <a:r>
              <a:rPr lang="en-IN" b="1" dirty="0"/>
              <a:t>Types of Clustering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59F74-CB2B-CAFD-B134-AA5AF9B34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183" y="1460769"/>
            <a:ext cx="3979174" cy="453948"/>
          </a:xfrm>
        </p:spPr>
        <p:txBody>
          <a:bodyPr>
            <a:normAutofit fontScale="70000" lnSpcReduction="20000"/>
          </a:bodyPr>
          <a:lstStyle/>
          <a:p>
            <a:pPr fontAlgn="base"/>
            <a:r>
              <a:rPr lang="en-IN" b="1" cap="none" dirty="0">
                <a:latin typeface="Arial Black" panose="020B0A04020102020204" pitchFamily="34" charset="0"/>
              </a:rPr>
              <a:t>Distribution-based clustering</a:t>
            </a:r>
          </a:p>
          <a:p>
            <a:pPr fontAlgn="base"/>
            <a:endParaRPr lang="en-US" b="1" cap="none" dirty="0">
              <a:latin typeface="Arial Black" panose="020B0A04020102020204" pitchFamily="34" charset="0"/>
            </a:endParaRPr>
          </a:p>
          <a:p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60F8FB3-2117-57B8-550F-9ABC53F74264}"/>
              </a:ext>
            </a:extLst>
          </p:cNvPr>
          <p:cNvSpPr txBox="1">
            <a:spLocks/>
          </p:cNvSpPr>
          <p:nvPr/>
        </p:nvSpPr>
        <p:spPr>
          <a:xfrm>
            <a:off x="5414181" y="1411582"/>
            <a:ext cx="3979174" cy="4539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b="0" i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0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6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4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IN" sz="1700" b="1" cap="none" dirty="0">
                <a:latin typeface="Arial Black" panose="020B0A04020102020204" pitchFamily="34" charset="0"/>
              </a:rPr>
              <a:t>Fuzzy clustering</a:t>
            </a:r>
          </a:p>
          <a:p>
            <a:endParaRPr lang="en-IN" dirty="0"/>
          </a:p>
        </p:txBody>
      </p:sp>
      <p:pic>
        <p:nvPicPr>
          <p:cNvPr id="9" name="Picture 8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AE9F0DE2-69BA-FCB5-76B7-C703B2C221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66" t="4643" b="3930"/>
          <a:stretch>
            <a:fillRect/>
          </a:stretch>
        </p:blipFill>
        <p:spPr>
          <a:xfrm>
            <a:off x="810072" y="2025181"/>
            <a:ext cx="4209923" cy="314377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3" name="Picture 12" descr="A diagram of fuzzy clusters&#10;&#10;AI-generated content may be incorrect.">
            <a:extLst>
              <a:ext uri="{FF2B5EF4-FFF2-40B4-BE49-F238E27FC236}">
                <a16:creationId xmlns:a16="http://schemas.microsoft.com/office/drawing/2014/main" id="{8348CF59-02E2-7787-54D1-E5F0303BEA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248" t="5093" r="1950" b="14188"/>
          <a:stretch>
            <a:fillRect/>
          </a:stretch>
        </p:blipFill>
        <p:spPr>
          <a:xfrm>
            <a:off x="6096000" y="1914717"/>
            <a:ext cx="4145621" cy="358395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089115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CCADDB-9EEA-322C-D775-6C00FB430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889434"/>
              </p:ext>
            </p:extLst>
          </p:nvPr>
        </p:nvGraphicFramePr>
        <p:xfrm>
          <a:off x="306844" y="79781"/>
          <a:ext cx="11248962" cy="642534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10666">
                  <a:extLst>
                    <a:ext uri="{9D8B030D-6E8A-4147-A177-3AD203B41FA5}">
                      <a16:colId xmlns:a16="http://schemas.microsoft.com/office/drawing/2014/main" val="3120780953"/>
                    </a:ext>
                  </a:extLst>
                </a:gridCol>
                <a:gridCol w="2259574">
                  <a:extLst>
                    <a:ext uri="{9D8B030D-6E8A-4147-A177-3AD203B41FA5}">
                      <a16:colId xmlns:a16="http://schemas.microsoft.com/office/drawing/2014/main" val="2875949433"/>
                    </a:ext>
                  </a:extLst>
                </a:gridCol>
                <a:gridCol w="2259574">
                  <a:extLst>
                    <a:ext uri="{9D8B030D-6E8A-4147-A177-3AD203B41FA5}">
                      <a16:colId xmlns:a16="http://schemas.microsoft.com/office/drawing/2014/main" val="2268297707"/>
                    </a:ext>
                  </a:extLst>
                </a:gridCol>
                <a:gridCol w="2259574">
                  <a:extLst>
                    <a:ext uri="{9D8B030D-6E8A-4147-A177-3AD203B41FA5}">
                      <a16:colId xmlns:a16="http://schemas.microsoft.com/office/drawing/2014/main" val="2402701021"/>
                    </a:ext>
                  </a:extLst>
                </a:gridCol>
                <a:gridCol w="2259574">
                  <a:extLst>
                    <a:ext uri="{9D8B030D-6E8A-4147-A177-3AD203B41FA5}">
                      <a16:colId xmlns:a16="http://schemas.microsoft.com/office/drawing/2014/main" val="399750431"/>
                    </a:ext>
                  </a:extLst>
                </a:gridCol>
              </a:tblGrid>
              <a:tr h="647234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Types of clustering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Explanation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Algorithms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Advantages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Disadvantages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215830"/>
                  </a:ext>
                </a:extLst>
              </a:tr>
              <a:tr h="1818420">
                <a:tc>
                  <a:txBody>
                    <a:bodyPr/>
                    <a:lstStyle/>
                    <a:p>
                      <a:r>
                        <a:rPr lang="en-US" sz="1800" b="0" cap="none" dirty="0">
                          <a:latin typeface="Arial Black" panose="020B0A04020102020204" pitchFamily="34" charset="0"/>
                        </a:rPr>
                        <a:t>Centroid-based </a:t>
                      </a:r>
                      <a:endParaRPr lang="en-IN" b="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groups data by finding central points (centroids) for clusters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K-means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K-medoids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Fast and scalable for large datasets.</a:t>
                      </a:r>
                    </a:p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Simple to implement and interpret.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Requires pre-knowledge </a:t>
                      </a:r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of k.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Sensitive to initialization and outliers.</a:t>
                      </a:r>
                    </a:p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Not suitable for non-spherical clusters.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385197"/>
                  </a:ext>
                </a:extLst>
              </a:tr>
              <a:tr h="2191973">
                <a:tc>
                  <a:txBody>
                    <a:bodyPr/>
                    <a:lstStyle/>
                    <a:p>
                      <a:r>
                        <a:rPr lang="en-IN" sz="1800" b="0" cap="none" dirty="0">
                          <a:latin typeface="Arial Black" panose="020B0A04020102020204" pitchFamily="34" charset="0"/>
                        </a:rPr>
                        <a:t>Density-based </a:t>
                      </a:r>
                      <a:endParaRPr lang="en-IN" b="0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defines clusters as contiguous regions of high data density separated by areas of lower density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DBSCAN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OPTICS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Handles clusters of varying shapes and sizes.</a:t>
                      </a:r>
                    </a:p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Does not require cluster count upfront.</a:t>
                      </a:r>
                    </a:p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Effective in noisy datasets.</a:t>
                      </a:r>
                    </a:p>
                    <a:p>
                      <a:endParaRPr lang="en-IN" sz="1400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Difficult to choose parameters like epsilon and min points.</a:t>
                      </a:r>
                    </a:p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Less effective for varying density clusters (except OPTICS).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4939102"/>
                  </a:ext>
                </a:extLst>
              </a:tr>
              <a:tr h="1767720">
                <a:tc>
                  <a:txBody>
                    <a:bodyPr/>
                    <a:lstStyle/>
                    <a:p>
                      <a:r>
                        <a:rPr lang="en-IN" sz="1800" b="1" cap="none" dirty="0">
                          <a:latin typeface="Arial Black" panose="020B0A04020102020204" pitchFamily="34" charset="0"/>
                        </a:rPr>
                        <a:t>Connectivity-based 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groups data points that are close to each other, forming connected "neighborhoods" and then bigger clusters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Agglomerative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Divisive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Provides a full hierarchy, easy to visualize.</a:t>
                      </a:r>
                    </a:p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 need to specify number of clusters upfront.</a:t>
                      </a:r>
                    </a:p>
                    <a:p>
                      <a:endParaRPr lang="en-IN" sz="1400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Computationally intensive for large datasets.</a:t>
                      </a:r>
                    </a:p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Merging/splitting decisions are irreversible.</a:t>
                      </a:r>
                    </a:p>
                    <a:p>
                      <a:endParaRPr lang="en-IN" sz="1400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343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1DB15-CF2E-2145-7FD2-5688CE413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696925-88DA-0BF4-26EB-3D3307432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710675"/>
              </p:ext>
            </p:extLst>
          </p:nvPr>
        </p:nvGraphicFramePr>
        <p:xfrm>
          <a:off x="306843" y="79780"/>
          <a:ext cx="11439208" cy="433879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48052">
                  <a:extLst>
                    <a:ext uri="{9D8B030D-6E8A-4147-A177-3AD203B41FA5}">
                      <a16:colId xmlns:a16="http://schemas.microsoft.com/office/drawing/2014/main" val="3120780953"/>
                    </a:ext>
                  </a:extLst>
                </a:gridCol>
                <a:gridCol w="2297789">
                  <a:extLst>
                    <a:ext uri="{9D8B030D-6E8A-4147-A177-3AD203B41FA5}">
                      <a16:colId xmlns:a16="http://schemas.microsoft.com/office/drawing/2014/main" val="2875949433"/>
                    </a:ext>
                  </a:extLst>
                </a:gridCol>
                <a:gridCol w="2297789">
                  <a:extLst>
                    <a:ext uri="{9D8B030D-6E8A-4147-A177-3AD203B41FA5}">
                      <a16:colId xmlns:a16="http://schemas.microsoft.com/office/drawing/2014/main" val="2268297707"/>
                    </a:ext>
                  </a:extLst>
                </a:gridCol>
                <a:gridCol w="2297789">
                  <a:extLst>
                    <a:ext uri="{9D8B030D-6E8A-4147-A177-3AD203B41FA5}">
                      <a16:colId xmlns:a16="http://schemas.microsoft.com/office/drawing/2014/main" val="2402701021"/>
                    </a:ext>
                  </a:extLst>
                </a:gridCol>
                <a:gridCol w="2297789">
                  <a:extLst>
                    <a:ext uri="{9D8B030D-6E8A-4147-A177-3AD203B41FA5}">
                      <a16:colId xmlns:a16="http://schemas.microsoft.com/office/drawing/2014/main" val="399750431"/>
                    </a:ext>
                  </a:extLst>
                </a:gridCol>
              </a:tblGrid>
              <a:tr h="680706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Types of clustering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Explanation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Algorithms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Advantages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Disadvantages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215830"/>
                  </a:ext>
                </a:extLst>
              </a:tr>
              <a:tr h="2020474">
                <a:tc>
                  <a:txBody>
                    <a:bodyPr/>
                    <a:lstStyle/>
                    <a:p>
                      <a:r>
                        <a:rPr lang="en-IN" sz="1800" b="1" cap="none" dirty="0">
                          <a:latin typeface="Arial Black" panose="020B0A04020102020204" pitchFamily="34" charset="0"/>
                        </a:rPr>
                        <a:t>Distribution-based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groups data by assuming clusters are shaped like probability distributions (like bell curves), assigning points based on how likely they fit each distribution, not just distance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Gaussian Mixture Model</a:t>
                      </a:r>
                    </a:p>
                    <a:p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Flexible cluster shapes.</a:t>
                      </a:r>
                    </a:p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Provides probabilistic memberships.</a:t>
                      </a:r>
                    </a:p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Suitable for overlapping clusters.</a:t>
                      </a:r>
                    </a:p>
                    <a:p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Requires specifying number of components.</a:t>
                      </a:r>
                    </a:p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Computationally more expensive.</a:t>
                      </a:r>
                    </a:p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Sensitive to initialization.</a:t>
                      </a:r>
                    </a:p>
                    <a:p>
                      <a:endParaRPr lang="en-IN" sz="1400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220109"/>
                  </a:ext>
                </a:extLst>
              </a:tr>
              <a:tr h="1637617">
                <a:tc>
                  <a:txBody>
                    <a:bodyPr/>
                    <a:lstStyle/>
                    <a:p>
                      <a:r>
                        <a:rPr lang="en-IN" sz="1800" b="1" cap="none" dirty="0">
                          <a:latin typeface="Arial Black" panose="020B0A04020102020204" pitchFamily="34" charset="0"/>
                        </a:rPr>
                        <a:t>Fuzzy clustering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grouping things where items can belong to 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multiple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groups at once, not just one, using "degrees of belonging"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Fuzzy C- means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Models data ambiguity explicitly.</a:t>
                      </a:r>
                    </a:p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Useful for complex or imprecise data.</a:t>
                      </a:r>
                    </a:p>
                    <a:p>
                      <a:endParaRPr lang="en-IN" sz="1400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Choosing fuzziness parameter can be tricky.</a:t>
                      </a:r>
                    </a:p>
                    <a:p>
                      <a:pPr marL="28575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Computational overhead compared to hard clustering.</a:t>
                      </a:r>
                    </a:p>
                    <a:p>
                      <a:endParaRPr lang="en-IN" sz="1400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940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283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816209"/>
            <a:ext cx="9821955" cy="595281"/>
          </a:xfrm>
          <a:noFill/>
        </p:spPr>
        <p:txBody>
          <a:bodyPr anchor="t" anchorCtr="0"/>
          <a:lstStyle/>
          <a:p>
            <a:r>
              <a:rPr lang="en-US" dirty="0"/>
              <a:t>K means</a:t>
            </a:r>
            <a:br>
              <a:rPr lang="en-US" dirty="0"/>
            </a:br>
            <a:br>
              <a:rPr lang="en-US" sz="1800" cap="none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Steps:</a:t>
            </a:r>
          </a:p>
          <a:p>
            <a:pPr marL="0" indent="0">
              <a:buNone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1. Choose the number of clusters K.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 2. Initialize K cluster centroids (randomly or using smart initialization like K-Means++).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 3. Assignment step: Assign each point to the nearest centroid.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 4. Update step: Recalculate each centroid as the mean of points assigned to it.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 5. Repeat steps 3–4 until centroids stop changing significantly (convergence).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Fast, simple.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Cons: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Sensitive to outliers, assumes spherical clusters, requires K.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853C7E-A95B-7AA5-66A6-3830A6202C0D}"/>
              </a:ext>
            </a:extLst>
          </p:cNvPr>
          <p:cNvSpPr txBox="1"/>
          <p:nvPr/>
        </p:nvSpPr>
        <p:spPr>
          <a:xfrm>
            <a:off x="1219200" y="1411490"/>
            <a:ext cx="87082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Partition data into K clusters where each point belongs to the nearest mean.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EFD0E-647B-77E4-A5D4-B9721E46E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FC49-2D2E-8606-3262-191A0F76E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816209"/>
            <a:ext cx="9821955" cy="595281"/>
          </a:xfrm>
          <a:noFill/>
        </p:spPr>
        <p:txBody>
          <a:bodyPr anchor="t" anchorCtr="0"/>
          <a:lstStyle/>
          <a:p>
            <a:r>
              <a:rPr lang="en-US" dirty="0"/>
              <a:t>K medoids</a:t>
            </a:r>
            <a:br>
              <a:rPr lang="en-US" dirty="0"/>
            </a:br>
            <a:br>
              <a:rPr lang="en-US" sz="1800" cap="none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6CD59-AF60-9C98-BAB2-6ADB9EFC19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Steps: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1. Choose the number of clusters K.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2. Select K initial medoids (actual data points).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3. Assignment step: Assign each point to the nearest medoid.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4. Update step: For each cluster, try swapping the medoid with a non-medoid point. Keep the swap if it reduces total distance.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5. Repeat step 3–4 until no medoid change improves the clustering.</a:t>
            </a:r>
          </a:p>
          <a:p>
            <a:pPr marL="0" indent="0">
              <a:buNone/>
            </a:pPr>
            <a:r>
              <a:rPr lang="en-IN" sz="1600" dirty="0"/>
              <a:t> 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8E5669-5960-1FF2-B887-853440698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Robust to outliers, works with any distance metric.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Cons: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Slower than K-Means, expensive for large datasets.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4BCCB0-190D-E077-1BB5-E283C37D3B1E}"/>
              </a:ext>
            </a:extLst>
          </p:cNvPr>
          <p:cNvSpPr txBox="1"/>
          <p:nvPr/>
        </p:nvSpPr>
        <p:spPr>
          <a:xfrm>
            <a:off x="1157830" y="1309617"/>
            <a:ext cx="87082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Partition data into K clusters using actual points (medoids) as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centers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to reduce sensitivity to outliers.</a:t>
            </a:r>
          </a:p>
        </p:txBody>
      </p:sp>
    </p:spTree>
    <p:extLst>
      <p:ext uri="{BB962C8B-B14F-4D97-AF65-F5344CB8AC3E}">
        <p14:creationId xmlns:p14="http://schemas.microsoft.com/office/powerpoint/2010/main" val="820220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FAC73-0554-D77C-72D4-0AB5FCCB5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2288-0379-4ECB-6796-4CDE5F947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816209"/>
            <a:ext cx="9821955" cy="595281"/>
          </a:xfrm>
          <a:noFill/>
        </p:spPr>
        <p:txBody>
          <a:bodyPr anchor="t" anchorCtr="0"/>
          <a:lstStyle/>
          <a:p>
            <a:r>
              <a:rPr lang="en-IN" dirty="0"/>
              <a:t>DBSCAN</a:t>
            </a:r>
            <a:r>
              <a:rPr lang="en-US" dirty="0"/>
              <a:t> </a:t>
            </a:r>
            <a:br>
              <a:rPr lang="en-US" dirty="0"/>
            </a:br>
            <a:br>
              <a:rPr lang="en-US" sz="1800" cap="none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D1F0D-0E2F-D34C-5E01-43352DBFB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Steps: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1. For each point, find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neighbors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within eps.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2. Label point as core if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neighbors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≥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min_samples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border if reachable from core, otherwise noise.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3. Connect core points with density-reachable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neighbors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to form clusters.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4. Repeat until all points are processed.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7337D-EE48-0428-DCC5-B162BEC55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Finds arbitrary-shaped clusters, detects noise automatically.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Cons: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Sensitive to eps, struggles with varying density clusters.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653298-D52D-266D-30A6-A0F25556C657}"/>
              </a:ext>
            </a:extLst>
          </p:cNvPr>
          <p:cNvSpPr txBox="1"/>
          <p:nvPr/>
        </p:nvSpPr>
        <p:spPr>
          <a:xfrm>
            <a:off x="1219200" y="1411490"/>
            <a:ext cx="870827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Identify dense clusters and label isolated points as noise.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eps (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neighborhood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radius),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min_samples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(minimum points to form a dense region).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485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8360C-D89F-000A-AA25-B161EABF2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7043F-0EE5-ADAD-F67E-5B02F66C9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816209"/>
            <a:ext cx="9821955" cy="595281"/>
          </a:xfrm>
          <a:noFill/>
        </p:spPr>
        <p:txBody>
          <a:bodyPr anchor="t" anchorCtr="0"/>
          <a:lstStyle/>
          <a:p>
            <a:r>
              <a:rPr lang="en-IN" dirty="0"/>
              <a:t>OPTICS</a:t>
            </a:r>
            <a:br>
              <a:rPr lang="en-IN" dirty="0"/>
            </a:br>
            <a:br>
              <a:rPr lang="en-US" sz="1800" cap="none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B4264-A200-260C-5BE8-0EE087AAC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Steps: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1. Set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min_samples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(like DBSCAN), but no fixed eps.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2. Calculate core distance and reachability distance for each point.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3. Sort points based on reachability distance, producing a reachability plot.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4. Extract clusters by identifying valleys in the reachability plot.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16DEB-B30C-2D7F-391A-E0ADA9DA8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Handles variable density clusters, identifies hierarchy.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Cons: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More complex, slower, requires interpretation of plot.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69C36-4AE7-27A7-3B14-86D0C96822F6}"/>
              </a:ext>
            </a:extLst>
          </p:cNvPr>
          <p:cNvSpPr txBox="1"/>
          <p:nvPr/>
        </p:nvSpPr>
        <p:spPr>
          <a:xfrm>
            <a:off x="1219200" y="1411490"/>
            <a:ext cx="87082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Like DBSCAN but handles clusters of varying density.</a:t>
            </a:r>
          </a:p>
        </p:txBody>
      </p:sp>
    </p:spTree>
    <p:extLst>
      <p:ext uri="{BB962C8B-B14F-4D97-AF65-F5344CB8AC3E}">
        <p14:creationId xmlns:p14="http://schemas.microsoft.com/office/powerpoint/2010/main" val="2113815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9277-995E-F937-4A95-1F7ACEE05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90F21-0EF2-2091-7AB6-A5221F052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816209"/>
            <a:ext cx="9821955" cy="595281"/>
          </a:xfrm>
          <a:noFill/>
        </p:spPr>
        <p:txBody>
          <a:bodyPr anchor="t" anchorCtr="0"/>
          <a:lstStyle/>
          <a:p>
            <a:r>
              <a:rPr lang="en-IN" dirty="0"/>
              <a:t>Agglomerative Clustering</a:t>
            </a:r>
            <a:br>
              <a:rPr lang="en-IN" dirty="0"/>
            </a:br>
            <a:br>
              <a:rPr lang="en-US" sz="1800" cap="none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0C4EB-382E-E05E-50B9-5A98C731BD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Steps: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1. Start with each data point as a separate cluster.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2. Compute pairwise distances between clusters.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3. Merge the two closest clusters based on a linkage method (single, complete, average, Ward).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4. Repeat step 2–3 until only one cluster or desired number of clusters is reached.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5. Optional: Cut dendrogram at a specific level to define clusters.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636DA-35BB-1605-70CF-7836022BE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Produces hierarchy, works with any distance metric.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Cons: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Expensive for large datasets, sensitive to early merges.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625C6-AEE8-745A-C23A-896436533FA4}"/>
              </a:ext>
            </a:extLst>
          </p:cNvPr>
          <p:cNvSpPr txBox="1"/>
          <p:nvPr/>
        </p:nvSpPr>
        <p:spPr>
          <a:xfrm>
            <a:off x="1219200" y="1411490"/>
            <a:ext cx="87082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Bottom-up hierarchical clustering to form a dendrogram.</a:t>
            </a:r>
          </a:p>
        </p:txBody>
      </p:sp>
    </p:spTree>
    <p:extLst>
      <p:ext uri="{BB962C8B-B14F-4D97-AF65-F5344CB8AC3E}">
        <p14:creationId xmlns:p14="http://schemas.microsoft.com/office/powerpoint/2010/main" val="3525764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B135F-0D50-71CA-CE8C-ECDAAB247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7CB4-4203-65ED-ADFE-88C46B72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816209"/>
            <a:ext cx="9821955" cy="595281"/>
          </a:xfrm>
          <a:noFill/>
        </p:spPr>
        <p:txBody>
          <a:bodyPr anchor="t" anchorCtr="0"/>
          <a:lstStyle/>
          <a:p>
            <a:r>
              <a:rPr lang="en-IN" dirty="0"/>
              <a:t>Divisive Clustering (DIANA)</a:t>
            </a:r>
            <a:br>
              <a:rPr lang="en-IN" dirty="0"/>
            </a:br>
            <a:br>
              <a:rPr lang="en-US" sz="1800" cap="none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024A5-BB80-5DDF-C316-19310683F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Steps: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1. Start with all points in one cluster.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2. Identify the point least similar to the rest of the cluster (most distant).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3. Split this point and its nearest points into a new cluster.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4. Repeat splitting recursively on clusters until stopping criterion (number of clusters or homogeneity) is met.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10802-D6A0-8501-797D-68D76FA65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Can produce cleaner hierarchy than agglomerative.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Cons: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Very slow, rarely used for large datasets.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scikit-learn does not offer a direct 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DivisiveClustering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class due to its complexity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90AAA-E734-231E-276D-0D0CF9ACE270}"/>
              </a:ext>
            </a:extLst>
          </p:cNvPr>
          <p:cNvSpPr txBox="1"/>
          <p:nvPr/>
        </p:nvSpPr>
        <p:spPr>
          <a:xfrm>
            <a:off x="1219200" y="1411490"/>
            <a:ext cx="87082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Top-down hierarchical clustering.</a:t>
            </a:r>
          </a:p>
        </p:txBody>
      </p:sp>
    </p:spTree>
    <p:extLst>
      <p:ext uri="{BB962C8B-B14F-4D97-AF65-F5344CB8AC3E}">
        <p14:creationId xmlns:p14="http://schemas.microsoft.com/office/powerpoint/2010/main" val="2328203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5ADC-18A9-A492-A631-6A77318F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CD9D-20F8-1645-AE36-C1577DE8F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816209"/>
            <a:ext cx="9821955" cy="595281"/>
          </a:xfrm>
          <a:noFill/>
        </p:spPr>
        <p:txBody>
          <a:bodyPr anchor="t" anchorCtr="0"/>
          <a:lstStyle/>
          <a:p>
            <a:r>
              <a:rPr lang="en-IN" dirty="0"/>
              <a:t>Gaussian Mixture Model (GMM)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532CB-FD7D-E536-5C31-C4328DC9B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Steps: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1. Choose number of clusters K. 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2. Initialize means, covariances, and mixture weights.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3. E-step: Compute probability of each point belonging to each Gaussian (responsibilities).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4. M-step: Update Gaussian parameters (mean, covariance, weights) based on responsibilities.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5. Repeat steps 3–4 until convergence (log-likelihood stabilizes).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F205C8-D3B1-7D91-0F70-3ECD9D669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Handles overlapping and elliptical clusters, probabilistic assignments.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Cons: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Sensitive to outliers, requires Gaussian assumption, needs model selection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CF3568-D6FA-E83E-6F55-28B2622A48B0}"/>
              </a:ext>
            </a:extLst>
          </p:cNvPr>
          <p:cNvSpPr txBox="1"/>
          <p:nvPr/>
        </p:nvSpPr>
        <p:spPr>
          <a:xfrm>
            <a:off x="1219200" y="1411490"/>
            <a:ext cx="87082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Soft clustering assuming data comes from a mixture of Gaussian distributions.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395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6CDFF-6FE7-4062-8D59-4A579087C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ECCB7-CB26-747C-6965-7F9705A97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816209"/>
            <a:ext cx="9821955" cy="595281"/>
          </a:xfrm>
          <a:noFill/>
        </p:spPr>
        <p:txBody>
          <a:bodyPr anchor="t" anchorCtr="0"/>
          <a:lstStyle/>
          <a:p>
            <a:r>
              <a:rPr lang="en-IN" dirty="0"/>
              <a:t>Fuzzy C-Means (FCM)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41C72-0368-EFD9-EA2C-306D44CC6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Steps: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1. Choose number of clusters C and fuzziness parameter m (&gt;1).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2. Initialize membership matrix randomly (values sum to 1 for each point).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3. Compute cluster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centers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as weighted average of points (weighted by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membership^m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4. Update membership values for each point based on distances to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centers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5. Repeat steps 3–4 until membership changes are below threshold ε.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BE096-3DA0-0B2F-82D9-743C0107F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Captures uncertainty, overlapping clusters.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Cons: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Slower than K-Means, sensitive to outliers, needs C.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7F4206-D3E6-DD13-0EA1-40BB016D2926}"/>
              </a:ext>
            </a:extLst>
          </p:cNvPr>
          <p:cNvSpPr txBox="1"/>
          <p:nvPr/>
        </p:nvSpPr>
        <p:spPr>
          <a:xfrm>
            <a:off x="1219200" y="1411490"/>
            <a:ext cx="87082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Soft clustering with degrees of membership for each point.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507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8920-2AAF-5729-4223-26A59AEB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4225" y="949994"/>
            <a:ext cx="7984123" cy="657877"/>
          </a:xfrm>
        </p:spPr>
        <p:txBody>
          <a:bodyPr/>
          <a:lstStyle/>
          <a:p>
            <a:r>
              <a:rPr lang="en-IN" sz="2800" dirty="0"/>
              <a:t>Silhouette Score – Evaluation Metric for Clustering</a:t>
            </a:r>
          </a:p>
        </p:txBody>
      </p:sp>
      <p:pic>
        <p:nvPicPr>
          <p:cNvPr id="6" name="Picture Placeholder 5" descr="A diagram of a cluster&#10;&#10;AI-generated content may be incorrect.">
            <a:extLst>
              <a:ext uri="{FF2B5EF4-FFF2-40B4-BE49-F238E27FC236}">
                <a16:creationId xmlns:a16="http://schemas.microsoft.com/office/drawing/2014/main" id="{3126CAC9-3033-05D5-BCE2-FCD1EEE8367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250" r="1250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C7802-5A2C-E3B0-A68E-9C3486312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1884032"/>
            <a:ext cx="6217920" cy="4756108"/>
          </a:xfrm>
        </p:spPr>
        <p:txBody>
          <a:bodyPr>
            <a:normAutofit/>
          </a:bodyPr>
          <a:lstStyle/>
          <a:p>
            <a:r>
              <a:rPr lang="en-IN" sz="1400" cap="none" dirty="0">
                <a:latin typeface="Arial" panose="020B0604020202020204" pitchFamily="34" charset="0"/>
                <a:cs typeface="Arial" panose="020B0604020202020204" pitchFamily="34" charset="0"/>
              </a:rPr>
              <a:t>Used to measure how well each data point fits within its assigned cluster.</a:t>
            </a:r>
          </a:p>
          <a:p>
            <a:r>
              <a:rPr lang="en-IN" sz="1400" cap="none" dirty="0">
                <a:latin typeface="Arial" panose="020B0604020202020204" pitchFamily="34" charset="0"/>
                <a:cs typeface="Arial" panose="020B0604020202020204" pitchFamily="34" charset="0"/>
              </a:rPr>
              <a:t>Works for any clustering algorithm (k-means, DBSCAN, hierarchical, etc.)</a:t>
            </a:r>
          </a:p>
          <a:p>
            <a:r>
              <a:rPr lang="en-IN" sz="1400" cap="none" dirty="0">
                <a:latin typeface="Arial" panose="020B0604020202020204" pitchFamily="34" charset="0"/>
                <a:cs typeface="Arial" panose="020B0604020202020204" pitchFamily="34" charset="0"/>
              </a:rPr>
              <a:t>Formula </a:t>
            </a:r>
          </a:p>
          <a:p>
            <a:r>
              <a:rPr lang="en-IN" sz="1400" cap="none" dirty="0">
                <a:latin typeface="Arial" panose="020B0604020202020204" pitchFamily="34" charset="0"/>
                <a:cs typeface="Arial" panose="020B0604020202020204" pitchFamily="34" charset="0"/>
              </a:rPr>
              <a:t>Silhouette score (s) = (b − a) / max(a, b)</a:t>
            </a:r>
          </a:p>
          <a:p>
            <a:r>
              <a:rPr lang="en-IN" sz="1400" cap="none" dirty="0">
                <a:latin typeface="Arial" panose="020B0604020202020204" pitchFamily="34" charset="0"/>
                <a:cs typeface="Arial" panose="020B0604020202020204" pitchFamily="34" charset="0"/>
              </a:rPr>
              <a:t>Where: </a:t>
            </a:r>
          </a:p>
          <a:p>
            <a:r>
              <a:rPr lang="en-IN" sz="1400" cap="none" dirty="0">
                <a:latin typeface="Arial" panose="020B0604020202020204" pitchFamily="34" charset="0"/>
                <a:cs typeface="Arial" panose="020B0604020202020204" pitchFamily="34" charset="0"/>
              </a:rPr>
              <a:t>a= average distance of a data point to other points in the same cluster</a:t>
            </a:r>
          </a:p>
          <a:p>
            <a:r>
              <a:rPr lang="en-IN" sz="1400" cap="none" dirty="0">
                <a:latin typeface="Arial" panose="020B0604020202020204" pitchFamily="34" charset="0"/>
                <a:cs typeface="Arial" panose="020B0604020202020204" pitchFamily="34" charset="0"/>
              </a:rPr>
              <a:t> b = minimum average distance of the same point to points in other clusters</a:t>
            </a:r>
          </a:p>
          <a:p>
            <a:r>
              <a:rPr lang="en-IN" sz="1400" cap="none" dirty="0">
                <a:latin typeface="Arial" panose="020B0604020202020204" pitchFamily="34" charset="0"/>
                <a:cs typeface="Arial" panose="020B0604020202020204" pitchFamily="34" charset="0"/>
              </a:rPr>
              <a:t>*The closer the silhouette score is to +1, the better the clustering model.</a:t>
            </a:r>
          </a:p>
          <a:p>
            <a:r>
              <a:rPr lang="en-IN" sz="1400" cap="none" dirty="0">
                <a:latin typeface="Arial" panose="020B0604020202020204" pitchFamily="34" charset="0"/>
                <a:cs typeface="Arial" panose="020B0604020202020204" pitchFamily="34" charset="0"/>
              </a:rPr>
              <a:t>* A score near 0 means clusters are overlapping.</a:t>
            </a:r>
          </a:p>
          <a:p>
            <a:r>
              <a:rPr lang="en-IN" sz="1400" cap="none" dirty="0">
                <a:latin typeface="Arial" panose="020B0604020202020204" pitchFamily="34" charset="0"/>
                <a:cs typeface="Arial" panose="020B0604020202020204" pitchFamily="34" charset="0"/>
              </a:rPr>
              <a:t>* Negative values indicate serious misclassification.</a:t>
            </a:r>
          </a:p>
          <a:p>
            <a:endParaRPr lang="en-IN" sz="14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5840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9A837-7062-284C-3A77-C4EC3B16D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7A62A-3225-D949-43B5-0D090084F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9898" y="328126"/>
            <a:ext cx="7984123" cy="657877"/>
          </a:xfrm>
        </p:spPr>
        <p:txBody>
          <a:bodyPr/>
          <a:lstStyle/>
          <a:p>
            <a:r>
              <a:rPr lang="en-US" sz="2400" dirty="0"/>
              <a:t>Fuzzy Partition Coefficient (FPC)</a:t>
            </a:r>
            <a:br>
              <a:rPr lang="en-IN" sz="2400" dirty="0"/>
            </a:br>
            <a:r>
              <a:rPr lang="en-IN" sz="2400" dirty="0"/>
              <a:t>– </a:t>
            </a:r>
            <a:r>
              <a:rPr lang="en-US" sz="2400" dirty="0"/>
              <a:t>Evaluation Metric for Fuzzy C-Means Clustering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4D713-D08A-4936-08D0-5D5815E5E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3785" y="1446470"/>
            <a:ext cx="7041249" cy="6310587"/>
          </a:xfrm>
        </p:spPr>
        <p:txBody>
          <a:bodyPr>
            <a:normAutofit/>
          </a:bodyPr>
          <a:lstStyle/>
          <a:p>
            <a:r>
              <a:rPr lang="en-US" sz="1500" cap="none" dirty="0">
                <a:latin typeface="Arial" panose="020B0604020202020204" pitchFamily="34" charset="0"/>
                <a:cs typeface="Arial" panose="020B0604020202020204" pitchFamily="34" charset="0"/>
              </a:rPr>
              <a:t>Measures how clearly the clustering algorithm assigns data points to clusters.</a:t>
            </a:r>
            <a:endParaRPr lang="en-IN" sz="15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500" cap="none" dirty="0">
                <a:latin typeface="Arial" panose="020B0604020202020204" pitchFamily="34" charset="0"/>
                <a:cs typeface="Arial" panose="020B0604020202020204" pitchFamily="34" charset="0"/>
              </a:rPr>
              <a:t>Based on the membership matrix of fuzzy clustering.</a:t>
            </a:r>
          </a:p>
          <a:p>
            <a:r>
              <a:rPr lang="en-IN" sz="1400" cap="none" dirty="0">
                <a:latin typeface="Arial" panose="020B0604020202020204" pitchFamily="34" charset="0"/>
                <a:cs typeface="Arial" panose="020B0604020202020204" pitchFamily="34" charset="0"/>
              </a:rPr>
              <a:t>Formula </a:t>
            </a:r>
          </a:p>
          <a:p>
            <a:endParaRPr lang="en-IN" sz="14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sz="1400" cap="none" dirty="0">
                <a:latin typeface="Arial" panose="020B0604020202020204" pitchFamily="34" charset="0"/>
                <a:cs typeface="Arial" panose="020B0604020202020204" pitchFamily="34" charset="0"/>
              </a:rPr>
              <a:t>*Higher FPC(1 or near to 1) = Better fuzzy c-means clustering</a:t>
            </a:r>
            <a:endParaRPr lang="en-IN" sz="14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cap="none" dirty="0">
                <a:latin typeface="Arial" panose="020B0604020202020204" pitchFamily="34" charset="0"/>
                <a:cs typeface="Arial" panose="020B0604020202020204" pitchFamily="34" charset="0"/>
              </a:rPr>
              <a:t>*Too low FPC indicates too many clusters or unclear boundaries</a:t>
            </a:r>
            <a:endParaRPr lang="en-IN" sz="14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Why not silhouette for FCM?</a:t>
            </a:r>
            <a:endParaRPr lang="en-IN" sz="16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 Silhouette assumes hard assignments (one point → one cluster)</a:t>
            </a:r>
            <a:endParaRPr lang="en-IN" sz="16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 FCM uses soft memberships, so FPC is more appropriate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0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5" name="Picture 4" descr="A black and white text&#10;&#10;AI-generated content may be incorrect.">
            <a:extLst>
              <a:ext uri="{FF2B5EF4-FFF2-40B4-BE49-F238E27FC236}">
                <a16:creationId xmlns:a16="http://schemas.microsoft.com/office/drawing/2014/main" id="{5CA26617-37A1-5F58-EC61-C5CC5CA70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302" y="2846081"/>
            <a:ext cx="3977323" cy="1709149"/>
          </a:xfrm>
          <a:prstGeom prst="rect">
            <a:avLst/>
          </a:prstGeom>
        </p:spPr>
      </p:pic>
      <p:pic>
        <p:nvPicPr>
          <p:cNvPr id="10" name="Picture 9" descr="A diagram of a graph&#10;&#10;AI-generated content may be incorrect.">
            <a:extLst>
              <a:ext uri="{FF2B5EF4-FFF2-40B4-BE49-F238E27FC236}">
                <a16:creationId xmlns:a16="http://schemas.microsoft.com/office/drawing/2014/main" id="{3103A41A-83A1-904F-1526-5FE69C2D87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093"/>
          <a:stretch>
            <a:fillRect/>
          </a:stretch>
        </p:blipFill>
        <p:spPr>
          <a:xfrm>
            <a:off x="162436" y="1349928"/>
            <a:ext cx="3059444" cy="1902635"/>
          </a:xfrm>
          <a:prstGeom prst="rect">
            <a:avLst/>
          </a:prstGeom>
        </p:spPr>
      </p:pic>
      <p:pic>
        <p:nvPicPr>
          <p:cNvPr id="12" name="Picture 11" descr="A diagram of a graph&#10;&#10;AI-generated content may be incorrect.">
            <a:extLst>
              <a:ext uri="{FF2B5EF4-FFF2-40B4-BE49-F238E27FC236}">
                <a16:creationId xmlns:a16="http://schemas.microsoft.com/office/drawing/2014/main" id="{08C2EDBD-EAD6-8D63-7FFF-C101531219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531"/>
          <a:stretch>
            <a:fillRect/>
          </a:stretch>
        </p:blipFill>
        <p:spPr>
          <a:xfrm>
            <a:off x="162436" y="4007211"/>
            <a:ext cx="3059444" cy="195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166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61623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r>
              <a:rPr lang="en-US" dirty="0"/>
              <a:t>Jayashree m</a:t>
            </a:r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441C94AA-A4F3-7F52-544D-F6E853422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331" y="128874"/>
            <a:ext cx="3911335" cy="452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{02B6CC76-9AC7-4D4E-A800-6E90EC4CC452}tf67061901_win32</Template>
  <TotalTime>266</TotalTime>
  <Words>1592</Words>
  <Application>Microsoft Office PowerPoint</Application>
  <PresentationFormat>Widescreen</PresentationFormat>
  <Paragraphs>216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 Black</vt:lpstr>
      <vt:lpstr>Calibri</vt:lpstr>
      <vt:lpstr>Courier New</vt:lpstr>
      <vt:lpstr>Daytona Condensed Light</vt:lpstr>
      <vt:lpstr>Posterama</vt:lpstr>
      <vt:lpstr>Wingdings</vt:lpstr>
      <vt:lpstr>Custom</vt:lpstr>
      <vt:lpstr>Machine learning - clustering</vt:lpstr>
      <vt:lpstr>clustering</vt:lpstr>
      <vt:lpstr>Examples</vt:lpstr>
      <vt:lpstr>Types of Clustering </vt:lpstr>
      <vt:lpstr>Types of Clustering Methods</vt:lpstr>
      <vt:lpstr>Types of Clustering Methods</vt:lpstr>
      <vt:lpstr>PowerPoint Presentation</vt:lpstr>
      <vt:lpstr>PowerPoint Presentation</vt:lpstr>
      <vt:lpstr>K means   </vt:lpstr>
      <vt:lpstr>K medoids   </vt:lpstr>
      <vt:lpstr>DBSCAN    </vt:lpstr>
      <vt:lpstr>OPTICS   </vt:lpstr>
      <vt:lpstr>Agglomerative Clustering   </vt:lpstr>
      <vt:lpstr>Divisive Clustering (DIANA)   </vt:lpstr>
      <vt:lpstr>Gaussian Mixture Model (GMM) </vt:lpstr>
      <vt:lpstr>Fuzzy C-Means (FCM) </vt:lpstr>
      <vt:lpstr>Silhouette Score – Evaluation Metric for Clustering</vt:lpstr>
      <vt:lpstr>Fuzzy Partition Coefficient (FPC) – Evaluation Metric for Fuzzy C-Means Clustering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jayashree0508@gmail.com</dc:creator>
  <cp:lastModifiedBy>jayashree0508@gmail.com</cp:lastModifiedBy>
  <cp:revision>25</cp:revision>
  <dcterms:created xsi:type="dcterms:W3CDTF">2025-12-05T12:10:14Z</dcterms:created>
  <dcterms:modified xsi:type="dcterms:W3CDTF">2025-12-07T20:05:56Z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