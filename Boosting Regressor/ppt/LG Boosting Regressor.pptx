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80" r:id="rId5"/>
    <p:sldId id="281" r:id="rId6"/>
    <p:sldId id="282" r:id="rId7"/>
    <p:sldId id="283" r:id="rId8"/>
    <p:sldId id="28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19" autoAdjust="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2981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277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2051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774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315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4334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1585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149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2512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9809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192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520980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63243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97586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545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27440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large, sitting, white, numbers">
            <a:extLst>
              <a:ext uri="{FF2B5EF4-FFF2-40B4-BE49-F238E27FC236}">
                <a16:creationId xmlns:a16="http://schemas.microsoft.com/office/drawing/2014/main" id="{9A5D9ED1-DFCC-4799-89E2-D118451B98D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2" y="0"/>
            <a:ext cx="12191356" cy="6858000"/>
          </a:xfrm>
          <a:prstGeom prst="rect">
            <a:avLst/>
          </a:prstGeom>
        </p:spPr>
      </p:pic>
      <p:sp useBgFill="1">
        <p:nvSpPr>
          <p:cNvPr id="96" name="Freeform 5">
            <a:extLst>
              <a:ext uri="{FF2B5EF4-FFF2-40B4-BE49-F238E27FC236}">
                <a16:creationId xmlns:a16="http://schemas.microsoft.com/office/drawing/2014/main" id="{FE469E50-3893-4ED6-92BA-2985C32B0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7131809" y="1385982"/>
            <a:ext cx="4031414" cy="4100418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6="http://schemas.microsoft.com/office/drawing/2014/main" xmlns:p14="http://schemas.microsoft.com/office/powerpoint/2010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9962" y="1673524"/>
            <a:ext cx="3485073" cy="2420504"/>
          </a:xfrm>
        </p:spPr>
        <p:txBody>
          <a:bodyPr>
            <a:normAutofit/>
          </a:bodyPr>
          <a:lstStyle/>
          <a:p>
            <a:pPr algn="l"/>
            <a:r>
              <a:rPr lang="en-US" sz="4000" dirty="0"/>
              <a:t>LG Boosting Regressor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93FB3F-A8D4-46D3-A1C6-C79C64563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9965" y="4157933"/>
            <a:ext cx="3485072" cy="1026544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5792BA"/>
                </a:solidFill>
              </a:rPr>
              <a:t>Jayashree M</a:t>
            </a:r>
            <a:endParaRPr lang="en-US" sz="2300" dirty="0">
              <a:solidFill>
                <a:srgbClr val="5792B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3120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1F205-E8A9-4237-8AD2-ABD9BF694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</p:spPr>
        <p:txBody>
          <a:bodyPr>
            <a:normAutofit fontScale="90000"/>
          </a:bodyPr>
          <a:lstStyle/>
          <a:p>
            <a:r>
              <a:rPr lang="en-IN" b="1" dirty="0">
                <a:effectLst/>
              </a:rPr>
              <a:t>What is LG Boosting Regressor?</a:t>
            </a:r>
            <a:br>
              <a:rPr lang="en-IN" dirty="0">
                <a:effectLst/>
              </a:rPr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615CDF-B02E-973A-A560-9B2DBAF25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>
                <a:effectLst/>
              </a:rPr>
              <a:t>LG Boosting (Light Gradient Boosting) Regressor</a:t>
            </a:r>
            <a:endParaRPr lang="en-IN" dirty="0">
              <a:effectLst/>
            </a:endParaRPr>
          </a:p>
          <a:p>
            <a:pPr lvl="0"/>
            <a:r>
              <a:rPr lang="en-IN" dirty="0">
                <a:effectLst/>
              </a:rPr>
              <a:t>A fast and efficient machine learning algorithm</a:t>
            </a:r>
          </a:p>
          <a:p>
            <a:pPr lvl="0"/>
            <a:r>
              <a:rPr lang="en-IN" dirty="0">
                <a:effectLst/>
              </a:rPr>
              <a:t>Used to predict </a:t>
            </a:r>
            <a:r>
              <a:rPr lang="en-IN" b="1" dirty="0">
                <a:effectLst/>
              </a:rPr>
              <a:t>numerical values</a:t>
            </a:r>
            <a:endParaRPr lang="en-IN" dirty="0">
              <a:effectLst/>
            </a:endParaRPr>
          </a:p>
          <a:p>
            <a:pPr lvl="0"/>
            <a:r>
              <a:rPr lang="en-IN" dirty="0">
                <a:effectLst/>
              </a:rPr>
              <a:t>Based on decision trees</a:t>
            </a:r>
          </a:p>
          <a:p>
            <a:pPr lvl="0"/>
            <a:r>
              <a:rPr lang="en-IN" dirty="0">
                <a:effectLst/>
              </a:rPr>
              <a:t>Designed to handle </a:t>
            </a:r>
            <a:r>
              <a:rPr lang="en-IN" b="1" dirty="0">
                <a:effectLst/>
              </a:rPr>
              <a:t>large datasets quickly</a:t>
            </a:r>
            <a:endParaRPr lang="en-IN" dirty="0">
              <a:effectLst/>
            </a:endParaRPr>
          </a:p>
          <a:p>
            <a:pPr lvl="0"/>
            <a:r>
              <a:rPr lang="en-IN" dirty="0">
                <a:effectLst/>
              </a:rPr>
              <a:t>Known as part of the </a:t>
            </a:r>
            <a:r>
              <a:rPr lang="en-IN" dirty="0" err="1">
                <a:effectLst/>
              </a:rPr>
              <a:t>LightGBM</a:t>
            </a:r>
            <a:r>
              <a:rPr lang="en-IN" dirty="0">
                <a:effectLst/>
              </a:rPr>
              <a:t> framework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5077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33D63-A1BC-E9C2-9FA2-B7D858F84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b="1" dirty="0">
                <a:effectLst/>
              </a:rPr>
              <a:t>Why is LG Boosting Fast?</a:t>
            </a:r>
            <a:br>
              <a:rPr lang="en-IN" dirty="0">
                <a:effectLst/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2BB42-AB99-69A6-B4F9-746C44CC82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IN" dirty="0">
                <a:effectLst/>
              </a:rPr>
              <a:t>Uses </a:t>
            </a:r>
            <a:r>
              <a:rPr lang="en-IN" b="1" dirty="0">
                <a:effectLst/>
              </a:rPr>
              <a:t>Leaf-wise tree growth</a:t>
            </a:r>
            <a:r>
              <a:rPr lang="en-IN" dirty="0">
                <a:effectLst/>
              </a:rPr>
              <a:t> (grows deeper where needed)</a:t>
            </a:r>
          </a:p>
          <a:p>
            <a:pPr lvl="0"/>
            <a:r>
              <a:rPr lang="en-IN" dirty="0">
                <a:effectLst/>
              </a:rPr>
              <a:t>Skips unnecessary data scans</a:t>
            </a:r>
          </a:p>
          <a:p>
            <a:pPr lvl="0"/>
            <a:r>
              <a:rPr lang="en-IN" dirty="0">
                <a:effectLst/>
              </a:rPr>
              <a:t>Efficient with </a:t>
            </a:r>
            <a:r>
              <a:rPr lang="en-IN" b="1" dirty="0">
                <a:effectLst/>
              </a:rPr>
              <a:t>large datasets</a:t>
            </a:r>
            <a:endParaRPr lang="en-IN" dirty="0">
              <a:effectLst/>
            </a:endParaRPr>
          </a:p>
          <a:p>
            <a:pPr lvl="0"/>
            <a:r>
              <a:rPr lang="en-IN" dirty="0">
                <a:effectLst/>
              </a:rPr>
              <a:t>Supports </a:t>
            </a:r>
            <a:r>
              <a:rPr lang="en-IN" b="1" dirty="0">
                <a:effectLst/>
              </a:rPr>
              <a:t>parallel training</a:t>
            </a:r>
            <a:endParaRPr lang="en-IN" dirty="0">
              <a:effectLst/>
            </a:endParaRPr>
          </a:p>
          <a:p>
            <a:pPr lvl="0"/>
            <a:r>
              <a:rPr lang="en-IN" dirty="0">
                <a:effectLst/>
              </a:rPr>
              <a:t>Uses low memory</a:t>
            </a:r>
          </a:p>
          <a:p>
            <a:r>
              <a:rPr lang="en-IN" dirty="0">
                <a:effectLst/>
              </a:rPr>
              <a:t>Works better than many boosting algorithms when data is big</a:t>
            </a:r>
          </a:p>
          <a:p>
            <a:pPr lvl="0"/>
            <a:endParaRPr lang="en-IN" dirty="0">
              <a:effectLst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15693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8D421-A520-A761-7A95-66252A4BB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effectLst/>
              </a:rPr>
              <a:t>How LG Boosting Works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F964A-9795-BC8B-A9F8-74A2251EA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IN" dirty="0">
                <a:effectLst/>
              </a:rPr>
              <a:t>Start with a simple prediction (baseline)</a:t>
            </a:r>
          </a:p>
          <a:p>
            <a:pPr lvl="0"/>
            <a:r>
              <a:rPr lang="en-IN" dirty="0">
                <a:effectLst/>
              </a:rPr>
              <a:t>Build a tree to correct errors</a:t>
            </a:r>
          </a:p>
          <a:p>
            <a:pPr lvl="0"/>
            <a:r>
              <a:rPr lang="en-IN" dirty="0">
                <a:effectLst/>
              </a:rPr>
              <a:t>Add more trees — each focuses on the remaining mistakes</a:t>
            </a:r>
          </a:p>
          <a:p>
            <a:pPr lvl="0"/>
            <a:r>
              <a:rPr lang="en-IN" dirty="0">
                <a:effectLst/>
              </a:rPr>
              <a:t>Grows leaf nodes where improvement is highest</a:t>
            </a:r>
          </a:p>
          <a:p>
            <a:pPr lvl="0"/>
            <a:r>
              <a:rPr lang="en-IN" dirty="0">
                <a:effectLst/>
              </a:rPr>
              <a:t>Final prediction = combination of all small trees</a:t>
            </a:r>
          </a:p>
          <a:p>
            <a:r>
              <a:rPr lang="en-IN" b="1" dirty="0">
                <a:effectLst/>
              </a:rPr>
              <a:t>Easy idea:</a:t>
            </a:r>
            <a:br>
              <a:rPr lang="en-IN" dirty="0">
                <a:effectLst/>
              </a:rPr>
            </a:br>
            <a:r>
              <a:rPr lang="en-IN" dirty="0">
                <a:effectLst/>
              </a:rPr>
              <a:t>It focuses more on the “problem areas,” improving accuracy faster.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2818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E4151-0BAD-FEE8-4D58-2B3953873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: Insurance charges Prediction</a:t>
            </a:r>
            <a:endParaRPr lang="en-IN" dirty="0"/>
          </a:p>
        </p:txBody>
      </p:sp>
      <p:pic>
        <p:nvPicPr>
          <p:cNvPr id="5" name="Content Placeholder 4" descr="A diagram of a tree&#10;&#10;AI-generated content may be incorrect.">
            <a:extLst>
              <a:ext uri="{FF2B5EF4-FFF2-40B4-BE49-F238E27FC236}">
                <a16:creationId xmlns:a16="http://schemas.microsoft.com/office/drawing/2014/main" id="{37E4D1BD-5187-5314-1648-5BB1AF8BF1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5359" y="2228977"/>
            <a:ext cx="3528391" cy="3714750"/>
          </a:xfrm>
        </p:spPr>
      </p:pic>
      <p:pic>
        <p:nvPicPr>
          <p:cNvPr id="7" name="Picture 6" descr="A diagram of a graph&#10;&#10;AI-generated content may be incorrect.">
            <a:extLst>
              <a:ext uri="{FF2B5EF4-FFF2-40B4-BE49-F238E27FC236}">
                <a16:creationId xmlns:a16="http://schemas.microsoft.com/office/drawing/2014/main" id="{B43648DD-1EF3-4A44-4E44-8C1BBD063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608" y="1866900"/>
            <a:ext cx="6940320" cy="4584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8453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Arial Nova">
      <a:majorFont>
        <a:latin typeface="Arial Nova Light"/>
        <a:ea typeface=""/>
        <a:cs typeface=""/>
      </a:majorFont>
      <a:minorFont>
        <a:latin typeface="Arial Nova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7E70FC5-1855-47AB-8CE1-CB3C873A8988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30CB38EC-895A-4F8F-8F75-E263501ABB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560E646-30AD-4BA0-97EA-A7A07DF549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{EEEBC6FD-A7BD-4FCB-B9DA-3AA6576D314D}tf11665031_win32</Template>
  <TotalTime>18</TotalTime>
  <Words>155</Words>
  <Application>Microsoft Office PowerPoint</Application>
  <PresentationFormat>Widescreen</PresentationFormat>
  <Paragraphs>24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 Nova</vt:lpstr>
      <vt:lpstr>Arial Nova Light</vt:lpstr>
      <vt:lpstr>Wingdings 2</vt:lpstr>
      <vt:lpstr>SlateVTI</vt:lpstr>
      <vt:lpstr>LG Boosting Regressor</vt:lpstr>
      <vt:lpstr>What is LG Boosting Regressor? </vt:lpstr>
      <vt:lpstr>Why is LG Boosting Fast? </vt:lpstr>
      <vt:lpstr>How LG Boosting Works</vt:lpstr>
      <vt:lpstr>Example : Insurance charges Prediction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jayashree0508@gmail.com</dc:creator>
  <cp:lastModifiedBy>jayashree0508@gmail.com</cp:lastModifiedBy>
  <cp:revision>4</cp:revision>
  <dcterms:created xsi:type="dcterms:W3CDTF">2025-11-24T18:45:38Z</dcterms:created>
  <dcterms:modified xsi:type="dcterms:W3CDTF">2025-11-24T19:04:14Z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