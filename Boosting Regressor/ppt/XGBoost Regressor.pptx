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notesMasterIdLst>
    <p:notesMasterId r:id="rId11"/>
  </p:notesMasterIdLst>
  <p:sldIdLst>
    <p:sldId id="287" r:id="rId5"/>
    <p:sldId id="286" r:id="rId6"/>
    <p:sldId id="282" r:id="rId7"/>
    <p:sldId id="283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19" autoAdjust="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E6EEB3-CC34-4C41-9E6E-287ABC3A0CF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0DC8D-AD66-4631-A249-F435B5443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383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349A30-454B-4675-930A-C9B2EDDF22A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457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7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67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42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80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352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46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297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09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8174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88362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2103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06921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5758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76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7007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76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numbers&#10;&#10;AI-generated content may be incorrect.">
            <a:extLst>
              <a:ext uri="{FF2B5EF4-FFF2-40B4-BE49-F238E27FC236}">
                <a16:creationId xmlns:a16="http://schemas.microsoft.com/office/drawing/2014/main" id="{60D16A38-8D9E-7B91-E786-22896C3AD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6538" y="2405063"/>
            <a:ext cx="7767637" cy="1646237"/>
          </a:xfrm>
        </p:spPr>
        <p:txBody>
          <a:bodyPr>
            <a:noAutofit/>
          </a:bodyPr>
          <a:lstStyle/>
          <a:p>
            <a:pPr algn="l"/>
            <a:r>
              <a:rPr lang="en-US" sz="8000" dirty="0" err="1">
                <a:solidFill>
                  <a:srgbClr val="FFFF00"/>
                </a:solidFill>
              </a:rPr>
              <a:t>XGBoost</a:t>
            </a:r>
            <a:r>
              <a:rPr lang="en-US" sz="8000" dirty="0">
                <a:solidFill>
                  <a:srgbClr val="FFFF00"/>
                </a:solidFill>
              </a:rPr>
              <a:t> Regressor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6538" y="4051300"/>
            <a:ext cx="7767637" cy="10969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FF0000"/>
                </a:solidFill>
              </a:rPr>
              <a:t>Jayashree M</a:t>
            </a:r>
          </a:p>
        </p:txBody>
      </p:sp>
    </p:spTree>
    <p:extLst>
      <p:ext uri="{BB962C8B-B14F-4D97-AF65-F5344CB8AC3E}">
        <p14:creationId xmlns:p14="http://schemas.microsoft.com/office/powerpoint/2010/main" val="160901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E3829-0E0F-6F02-D840-C7AEB81B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</a:t>
            </a:r>
            <a:r>
              <a:rPr lang="en-IN" b="1" dirty="0" err="1"/>
              <a:t>XGBoost</a:t>
            </a:r>
            <a:r>
              <a:rPr lang="en-IN" b="1" dirty="0"/>
              <a:t> Regressor?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1A6D4-715A-A7F6-AAC8-7CD262459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XGBoost</a:t>
            </a:r>
            <a:r>
              <a:rPr lang="en-IN" b="1" dirty="0"/>
              <a:t> = Extreme Gradient Boosting</a:t>
            </a:r>
            <a:endParaRPr lang="en-IN" dirty="0"/>
          </a:p>
          <a:p>
            <a:pPr lvl="0"/>
            <a:r>
              <a:rPr lang="en-IN" dirty="0"/>
              <a:t>A powerful machine-learning algorithm</a:t>
            </a:r>
          </a:p>
          <a:p>
            <a:pPr lvl="0"/>
            <a:r>
              <a:rPr lang="en-IN" dirty="0"/>
              <a:t>Used to predict numerical values (regression tasks)</a:t>
            </a:r>
          </a:p>
          <a:p>
            <a:pPr lvl="0"/>
            <a:r>
              <a:rPr lang="en-IN" dirty="0"/>
              <a:t>Very fast and works well even on large datasets</a:t>
            </a:r>
          </a:p>
          <a:p>
            <a:pPr lvl="0"/>
            <a:r>
              <a:rPr lang="en-IN" dirty="0"/>
              <a:t>Often more accurate than traditional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263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753FA-7A22-6006-8CBC-C064444C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/>
              </a:rPr>
              <a:t>Why is </a:t>
            </a:r>
            <a:r>
              <a:rPr lang="en-IN" b="1" dirty="0" err="1">
                <a:effectLst/>
              </a:rPr>
              <a:t>XGBoost</a:t>
            </a:r>
            <a:r>
              <a:rPr lang="en-IN" b="1" dirty="0">
                <a:effectLst/>
              </a:rPr>
              <a:t> Powerful?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607C2-91EC-A551-6A85-3217BC38D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effectLst/>
              </a:rPr>
              <a:t>Uses </a:t>
            </a:r>
            <a:r>
              <a:rPr lang="en-IN" b="1" dirty="0">
                <a:effectLst/>
              </a:rPr>
              <a:t>boosting</a:t>
            </a:r>
            <a:r>
              <a:rPr lang="en-IN" dirty="0">
                <a:effectLst/>
              </a:rPr>
              <a:t> → many small trees work together</a:t>
            </a:r>
          </a:p>
          <a:p>
            <a:pPr lvl="0"/>
            <a:r>
              <a:rPr lang="en-IN" dirty="0">
                <a:effectLst/>
              </a:rPr>
              <a:t>Each new tree learns from previous mistakes</a:t>
            </a:r>
          </a:p>
          <a:p>
            <a:pPr lvl="0"/>
            <a:r>
              <a:rPr lang="en-IN" dirty="0">
                <a:effectLst/>
              </a:rPr>
              <a:t>Handles missing data automatically</a:t>
            </a:r>
          </a:p>
          <a:p>
            <a:pPr lvl="0"/>
            <a:r>
              <a:rPr lang="en-IN" dirty="0">
                <a:effectLst/>
              </a:rPr>
              <a:t>Built-in control to avoid overfitting</a:t>
            </a:r>
          </a:p>
          <a:p>
            <a:pPr lvl="0"/>
            <a:r>
              <a:rPr lang="en-IN" dirty="0">
                <a:effectLst/>
              </a:rPr>
              <a:t>Uses parallel processing → very fast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93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0B32-A3D3-A16C-B93C-D49F0211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How </a:t>
            </a:r>
            <a:r>
              <a:rPr lang="en-IN" b="1" dirty="0" err="1">
                <a:effectLst/>
              </a:rPr>
              <a:t>XGBoost</a:t>
            </a:r>
            <a:r>
              <a:rPr lang="en-IN" b="1" dirty="0">
                <a:effectLst/>
              </a:rPr>
              <a:t> Works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2E66D-C3E9-5AAA-A7B7-6BBD1C72E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effectLst/>
              </a:rPr>
              <a:t>Starts with a simple prediction</a:t>
            </a:r>
          </a:p>
          <a:p>
            <a:pPr lvl="0"/>
            <a:r>
              <a:rPr lang="en-IN" dirty="0">
                <a:effectLst/>
              </a:rPr>
              <a:t>Builds a small tree to fix errors</a:t>
            </a:r>
          </a:p>
          <a:p>
            <a:pPr lvl="0"/>
            <a:r>
              <a:rPr lang="en-IN" dirty="0">
                <a:effectLst/>
              </a:rPr>
              <a:t>Adds more trees, each improving the result</a:t>
            </a:r>
          </a:p>
          <a:p>
            <a:pPr lvl="0"/>
            <a:r>
              <a:rPr lang="en-IN" dirty="0">
                <a:effectLst/>
              </a:rPr>
              <a:t>Final prediction = combined output of all trees</a:t>
            </a:r>
          </a:p>
          <a:p>
            <a:r>
              <a:rPr lang="en-IN" b="1" dirty="0">
                <a:effectLst/>
              </a:rPr>
              <a:t>Easy idea:</a:t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>Like a team where each member improves the previous one.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087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9B4B-C472-74EE-9AB5-F8507F4E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Insurance Charges Prediction</a:t>
            </a:r>
            <a:endParaRPr lang="en-IN" dirty="0"/>
          </a:p>
        </p:txBody>
      </p:sp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9EE871D5-537B-03E9-A175-744EE32F3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780" y="2199188"/>
            <a:ext cx="3260108" cy="3714750"/>
          </a:xfrm>
        </p:spPr>
      </p:pic>
      <p:pic>
        <p:nvPicPr>
          <p:cNvPr id="7" name="Picture 6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DE194D83-EFD5-C210-6F4B-688711EA1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723" y="1986660"/>
            <a:ext cx="6104798" cy="426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53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DF66-24BF-5969-00EF-7D2ADE330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765" y="3886711"/>
            <a:ext cx="10353762" cy="12573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53338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133</Words>
  <Application>Microsoft Office PowerPoint</Application>
  <PresentationFormat>Widescreen</PresentationFormat>
  <Paragraphs>23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Trebuchet MS</vt:lpstr>
      <vt:lpstr>Wingdings 3</vt:lpstr>
      <vt:lpstr>Facet</vt:lpstr>
      <vt:lpstr>XGBoost Regressor</vt:lpstr>
      <vt:lpstr>What is XGBoost Regressor? </vt:lpstr>
      <vt:lpstr>Why is XGBoost Powerful? </vt:lpstr>
      <vt:lpstr>How XGBoost Works </vt:lpstr>
      <vt:lpstr>Example: Insurance Charges Prediction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jayashree0508@gmail.com</dc:creator>
  <cp:lastModifiedBy>jayashree0508@gmail.com</cp:lastModifiedBy>
  <cp:revision>7</cp:revision>
  <dcterms:created xsi:type="dcterms:W3CDTF">2025-11-24T18:29:36Z</dcterms:created>
  <dcterms:modified xsi:type="dcterms:W3CDTF">2025-11-25T04:11:29Z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