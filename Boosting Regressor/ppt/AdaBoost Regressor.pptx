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1"/>
  </p:notesMasterIdLst>
  <p:sldIdLst>
    <p:sldId id="280" r:id="rId5"/>
    <p:sldId id="281" r:id="rId6"/>
    <p:sldId id="282" r:id="rId7"/>
    <p:sldId id="283" r:id="rId8"/>
    <p:sldId id="284" r:id="rId9"/>
    <p:sldId id="28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19" autoAdjust="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FA0A2-6416-475D-AB94-097683855A22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349A30-454B-4675-930A-C9B2EDDF22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0236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349A30-454B-4675-930A-C9B2EDDF22A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7693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98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27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205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7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315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34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85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14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512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809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192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20980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324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7586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45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27440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large, sitting, white, numbers">
            <a:extLst>
              <a:ext uri="{FF2B5EF4-FFF2-40B4-BE49-F238E27FC236}">
                <a16:creationId xmlns:a16="http://schemas.microsoft.com/office/drawing/2014/main" id="{9A5D9ED1-DFCC-4799-89E2-D118451B98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" y="0"/>
            <a:ext cx="12191356" cy="6858000"/>
          </a:xfrm>
          <a:prstGeom prst="rect">
            <a:avLst/>
          </a:prstGeom>
        </p:spPr>
      </p:pic>
      <p:sp useBgFill="1">
        <p:nvSpPr>
          <p:cNvPr id="96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420504"/>
          </a:xfrm>
        </p:spPr>
        <p:txBody>
          <a:bodyPr>
            <a:normAutofit/>
          </a:bodyPr>
          <a:lstStyle/>
          <a:p>
            <a:pPr algn="l"/>
            <a:r>
              <a:rPr lang="en-US" sz="4000"/>
              <a:t>AdaBoost Regressor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5792BA"/>
                </a:solidFill>
              </a:rPr>
              <a:t>Jayashree M</a:t>
            </a:r>
            <a:endParaRPr lang="en-US" sz="2300" dirty="0">
              <a:solidFill>
                <a:srgbClr val="5792B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3120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F205-E8A9-4237-8AD2-ABD9BF694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IN" b="1" dirty="0">
                <a:effectLst/>
              </a:rPr>
              <a:t>What is AdaBoost Regressor?</a:t>
            </a:r>
            <a:br>
              <a:rPr lang="en-IN" dirty="0">
                <a:effectLst/>
              </a:rPr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51DB6E-3AF8-388F-EC05-233A993CE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effectLst/>
              </a:rPr>
              <a:t>AdaBoost (Adaptive Boosting) Regressor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A machine-learning algorithm used for </a:t>
            </a:r>
            <a:r>
              <a:rPr lang="en-IN" b="1" dirty="0">
                <a:effectLst/>
              </a:rPr>
              <a:t>predicting numbers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Combines many </a:t>
            </a:r>
            <a:r>
              <a:rPr lang="en-IN" b="1" dirty="0">
                <a:effectLst/>
              </a:rPr>
              <a:t>weak models</a:t>
            </a:r>
            <a:r>
              <a:rPr lang="en-IN" dirty="0">
                <a:effectLst/>
              </a:rPr>
              <a:t> (simple decision trees)</a:t>
            </a:r>
          </a:p>
          <a:p>
            <a:pPr lvl="0"/>
            <a:r>
              <a:rPr lang="en-IN" dirty="0">
                <a:effectLst/>
              </a:rPr>
              <a:t>Each model tries to correct the errors of the previous one</a:t>
            </a:r>
          </a:p>
          <a:p>
            <a:pPr lvl="0"/>
            <a:r>
              <a:rPr lang="en-IN" dirty="0">
                <a:effectLst/>
              </a:rPr>
              <a:t>Works best when data is clean and not extremely large</a:t>
            </a:r>
          </a:p>
          <a:p>
            <a:pPr marL="3690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077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07DA0-276E-8818-5B75-AE719204B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effectLst/>
              </a:rPr>
              <a:t>Why is AdaBoost Useful?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B7641-6B5A-2BE5-C92A-F96E12C2E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>
                <a:effectLst/>
              </a:rPr>
              <a:t>Simple and easy to understand</a:t>
            </a:r>
          </a:p>
          <a:p>
            <a:pPr lvl="0"/>
            <a:r>
              <a:rPr lang="en-IN" dirty="0">
                <a:effectLst/>
              </a:rPr>
              <a:t>Reduces mistakes step-by-step</a:t>
            </a:r>
          </a:p>
          <a:p>
            <a:pPr lvl="0"/>
            <a:r>
              <a:rPr lang="en-IN" dirty="0">
                <a:effectLst/>
              </a:rPr>
              <a:t>Focuses more on difficult-to-predict data points</a:t>
            </a:r>
          </a:p>
          <a:p>
            <a:pPr lvl="0"/>
            <a:r>
              <a:rPr lang="en-IN" dirty="0">
                <a:effectLst/>
              </a:rPr>
              <a:t>Often performs better than a single tree</a:t>
            </a:r>
          </a:p>
          <a:p>
            <a:pPr lvl="0"/>
            <a:r>
              <a:rPr lang="en-IN" dirty="0">
                <a:effectLst/>
              </a:rPr>
              <a:t>Can be used on small to medium datasets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401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A14C7-B4CB-4966-31CF-29EBDA19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>
                <a:effectLst/>
              </a:rPr>
              <a:t>How AdaBoost Regressor Works </a:t>
            </a:r>
            <a:br>
              <a:rPr lang="en-IN" dirty="0">
                <a:effectLst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676CA-4D14-4088-E87F-617A5A8BE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IN" dirty="0">
                <a:effectLst/>
              </a:rPr>
              <a:t>Train a simple decision tree (weak model)</a:t>
            </a:r>
          </a:p>
          <a:p>
            <a:pPr lvl="0"/>
            <a:r>
              <a:rPr lang="en-IN" dirty="0">
                <a:effectLst/>
              </a:rPr>
              <a:t>Check where it made errors</a:t>
            </a:r>
          </a:p>
          <a:p>
            <a:pPr lvl="0"/>
            <a:r>
              <a:rPr lang="en-IN" dirty="0">
                <a:effectLst/>
              </a:rPr>
              <a:t>Give </a:t>
            </a:r>
            <a:r>
              <a:rPr lang="en-IN" b="1" dirty="0">
                <a:effectLst/>
              </a:rPr>
              <a:t>higher weight</a:t>
            </a:r>
            <a:r>
              <a:rPr lang="en-IN" dirty="0">
                <a:effectLst/>
              </a:rPr>
              <a:t> to those difficult examples</a:t>
            </a:r>
          </a:p>
          <a:p>
            <a:pPr lvl="0"/>
            <a:r>
              <a:rPr lang="en-IN" dirty="0">
                <a:effectLst/>
              </a:rPr>
              <a:t>Train the next tree focusing more on those errors</a:t>
            </a:r>
          </a:p>
          <a:p>
            <a:pPr lvl="0"/>
            <a:r>
              <a:rPr lang="en-IN" dirty="0">
                <a:effectLst/>
              </a:rPr>
              <a:t>Repeat this process many times</a:t>
            </a:r>
          </a:p>
          <a:p>
            <a:pPr lvl="0"/>
            <a:r>
              <a:rPr lang="en-IN" dirty="0">
                <a:effectLst/>
              </a:rPr>
              <a:t>Final prediction = weighted sum of all small trees</a:t>
            </a:r>
          </a:p>
          <a:p>
            <a:r>
              <a:rPr lang="en-IN" b="1">
                <a:effectLst/>
              </a:rPr>
              <a:t>Easy idea</a:t>
            </a:r>
            <a:r>
              <a:rPr lang="en-IN" b="1" dirty="0">
                <a:effectLst/>
              </a:rPr>
              <a:t>:</a:t>
            </a:r>
            <a:br>
              <a:rPr lang="en-IN" dirty="0">
                <a:effectLst/>
              </a:rPr>
            </a:br>
            <a:r>
              <a:rPr lang="en-IN" dirty="0">
                <a:effectLst/>
              </a:rPr>
              <a:t>Each new model learns from the mistakes of the last one.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107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E8774-F5AA-FB06-8C51-4BFEE92E9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: Insurance charges Prediction</a:t>
            </a:r>
            <a:endParaRPr lang="en-IN" dirty="0"/>
          </a:p>
        </p:txBody>
      </p:sp>
      <p:pic>
        <p:nvPicPr>
          <p:cNvPr id="5" name="Content Placeholder 4" descr="A diagram of a model&#10;&#10;AI-generated content may be incorrect.">
            <a:extLst>
              <a:ext uri="{FF2B5EF4-FFF2-40B4-BE49-F238E27FC236}">
                <a16:creationId xmlns:a16="http://schemas.microsoft.com/office/drawing/2014/main" id="{FACD0AFE-4439-EE82-7A55-EBC459EA24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24261" y="1979282"/>
            <a:ext cx="2476500" cy="4269118"/>
          </a:xfrm>
        </p:spPr>
      </p:pic>
      <p:pic>
        <p:nvPicPr>
          <p:cNvPr id="7" name="Picture 6" descr="A graph with a red line&#10;&#10;AI-generated content may be incorrect.">
            <a:extLst>
              <a:ext uri="{FF2B5EF4-FFF2-40B4-BE49-F238E27FC236}">
                <a16:creationId xmlns:a16="http://schemas.microsoft.com/office/drawing/2014/main" id="{A8DCE45C-4F10-1C3A-5F1C-9932144139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208" y="1866900"/>
            <a:ext cx="7106940" cy="482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358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3C934-0BF8-2BFC-4355-CF13E75BE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317" y="2520737"/>
            <a:ext cx="10353762" cy="12573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32770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Arial Nova">
      <a:majorFont>
        <a:latin typeface="Arial Nova Light"/>
        <a:ea typeface=""/>
        <a:cs typeface=""/>
      </a:majorFont>
      <a:minorFont>
        <a:latin typeface="Arial Nova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560E646-30AD-4BA0-97EA-A7A07DF549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0CB38EC-895A-4F8F-8F75-E263501ABB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7E70FC5-1855-47AB-8CE1-CB3C873A898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{EEEBC6FD-A7BD-4FCB-B9DA-3AA6576D314D}tf11665031_win32</Template>
  <TotalTime>56</TotalTime>
  <Words>160</Words>
  <Application>Microsoft Office PowerPoint</Application>
  <PresentationFormat>Widescreen</PresentationFormat>
  <Paragraphs>25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 Nova</vt:lpstr>
      <vt:lpstr>Arial Nova Light</vt:lpstr>
      <vt:lpstr>Wingdings 2</vt:lpstr>
      <vt:lpstr>SlateVTI</vt:lpstr>
      <vt:lpstr>AdaBoost Regressor</vt:lpstr>
      <vt:lpstr>What is AdaBoost Regressor? </vt:lpstr>
      <vt:lpstr>Why is AdaBoost Useful?</vt:lpstr>
      <vt:lpstr>How AdaBoost Regressor Works  </vt:lpstr>
      <vt:lpstr>Example : Insurance charges Prediction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jayashree0508@gmail.com</dc:creator>
  <cp:lastModifiedBy>jayashree0508@gmail.com</cp:lastModifiedBy>
  <cp:revision>5</cp:revision>
  <dcterms:created xsi:type="dcterms:W3CDTF">2025-11-24T16:57:17Z</dcterms:created>
  <dcterms:modified xsi:type="dcterms:W3CDTF">2025-11-24T19:06:28Z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